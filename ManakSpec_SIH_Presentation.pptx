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
            <a:ext cx="10698480" cy="731520"/>
          </a:xfrm>
          <a:prstGeom prst="rect">
            <a:avLst/>
          </a:prstGeom>
          <a:noFill/>
        </p:spPr>
        <p:txBody>
          <a:bodyPr wrap="none">
            <a:spAutoFit/>
          </a:bodyPr>
          <a:lstStyle/>
          <a:p>
            <a:pPr algn="ctr">
              <a:defRPr sz="3200" b="1">
                <a:solidFill>
                  <a:srgbClr val="FFFFFF"/>
                </a:solidFill>
              </a:defRPr>
            </a:pPr>
            <a:r>
              <a:t>SMART INDIA HACKATHON 2025</a:t>
            </a:r>
          </a:p>
          <a:p>
            <a:pPr algn="ctr">
              <a:defRPr sz="1300">
                <a:solidFill>
                  <a:srgbClr val="00A8B5"/>
                </a:solidFill>
              </a:defRPr>
            </a:pPr>
            <a:r>
              <a:t>Ministry of Education’s Innovation Cell &amp; AICTE | Grand Finale Presentation</a:t>
            </a:r>
          </a:p>
        </p:txBody>
      </p:sp>
      <p:sp>
        <p:nvSpPr>
          <p:cNvPr id="5" name="Rounded Rectangle 4"/>
          <p:cNvSpPr/>
          <p:nvPr/>
        </p:nvSpPr>
        <p:spPr>
          <a:xfrm>
            <a:off x="731520" y="1463040"/>
            <a:ext cx="6766560" cy="4846320"/>
          </a:xfrm>
          <a:prstGeom prst="roundRect">
            <a:avLst/>
          </a:prstGeom>
          <a:solidFill>
            <a:srgbClr val="FFFFFF"/>
          </a:solidFill>
          <a:ln>
            <a:solidFill>
              <a:srgbClr val="DAE1E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200" b="1">
                <a:solidFill>
                  <a:srgbClr val="00A8B5"/>
                </a:solidFill>
              </a:defRPr>
            </a:pPr>
            <a:r>
              <a:t>PROJECT IDENTIFIER &amp; DOMAIN</a:t>
            </a:r>
          </a:p>
          <a:p>
            <a:pPr>
              <a:defRPr sz="1300" b="1">
                <a:solidFill>
                  <a:srgbClr val="0B1D3A"/>
                </a:solidFill>
              </a:defRPr>
            </a:pPr>
            <a:r>
              <a:t>•  Problem Statement ID:</a:t>
            </a:r>
          </a:p>
          <a:p>
            <a:pPr>
              <a:defRPr sz="1200">
                <a:solidFill>
                  <a:srgbClr val="0F172A"/>
                </a:solidFill>
              </a:defRPr>
            </a:pPr>
            <a:r>
              <a:t>    SIH25232  (or Allocated PS ID)</a:t>
            </a:r>
          </a:p>
          <a:p>
            <a:pPr>
              <a:defRPr sz="1300" b="1">
                <a:solidFill>
                  <a:srgbClr val="0B1D3A"/>
                </a:solidFill>
              </a:defRPr>
            </a:pPr>
            <a:r>
              <a:t>•  Problem Statement Title:</a:t>
            </a:r>
          </a:p>
          <a:p>
            <a:pPr>
              <a:defRPr sz="1200">
                <a:solidFill>
                  <a:srgbClr val="0F172A"/>
                </a:solidFill>
              </a:defRPr>
            </a:pPr>
            <a:r>
              <a:t>    AI-Driven Intelligent Identification &amp; Recommendation of Bureau of Indian Standards (BIS) and Mandatory Quality Control Orders (QCO) for Public Procurement &amp; Tendering</a:t>
            </a:r>
          </a:p>
          <a:p>
            <a:pPr>
              <a:defRPr sz="1300" b="1">
                <a:solidFill>
                  <a:srgbClr val="0B1D3A"/>
                </a:solidFill>
              </a:defRPr>
            </a:pPr>
            <a:r>
              <a:t>•  Project Name:</a:t>
            </a:r>
          </a:p>
          <a:p>
            <a:pPr>
              <a:defRPr sz="1200">
                <a:solidFill>
                  <a:srgbClr val="0F172A"/>
                </a:solidFill>
              </a:defRPr>
            </a:pPr>
            <a:r>
              <a:t>    ManakSpec — Intelligent Standards &amp; Tender Drafting Engine</a:t>
            </a:r>
          </a:p>
          <a:p>
            <a:pPr>
              <a:defRPr sz="1300" b="1">
                <a:solidFill>
                  <a:srgbClr val="0B1D3A"/>
                </a:solidFill>
              </a:defRPr>
            </a:pPr>
            <a:r>
              <a:t>•  Theme:</a:t>
            </a:r>
          </a:p>
          <a:p>
            <a:pPr>
              <a:defRPr sz="1200">
                <a:solidFill>
                  <a:srgbClr val="0F172A"/>
                </a:solidFill>
              </a:defRPr>
            </a:pPr>
            <a:r>
              <a:t>    Smart Automation / Governance &amp; Public Administration</a:t>
            </a:r>
          </a:p>
          <a:p>
            <a:pPr>
              <a:defRPr sz="1300" b="1">
                <a:solidFill>
                  <a:srgbClr val="0B1D3A"/>
                </a:solidFill>
              </a:defRPr>
            </a:pPr>
            <a:r>
              <a:t>•  PS Category:</a:t>
            </a:r>
          </a:p>
          <a:p>
            <a:pPr>
              <a:defRPr sz="1200">
                <a:solidFill>
                  <a:srgbClr val="0F172A"/>
                </a:solidFill>
              </a:defRPr>
            </a:pPr>
            <a:r>
              <a:t>    Software</a:t>
            </a:r>
          </a:p>
          <a:p>
            <a:pPr>
              <a:defRPr sz="1300" b="1">
                <a:solidFill>
                  <a:srgbClr val="0B1D3A"/>
                </a:solidFill>
              </a:defRPr>
            </a:pPr>
            <a:r>
              <a:t>•  Organization Domain:</a:t>
            </a:r>
          </a:p>
          <a:p>
            <a:pPr>
              <a:defRPr sz="1200">
                <a:solidFill>
                  <a:srgbClr val="0F172A"/>
                </a:solidFill>
              </a:defRPr>
            </a:pPr>
            <a:r>
              <a:t>    Bureau of Indian Standards (BIS) / GeM / CPWD</a:t>
            </a:r>
          </a:p>
        </p:txBody>
      </p:sp>
      <p:sp>
        <p:nvSpPr>
          <p:cNvPr id="6" name="Rounded Rectangle 5"/>
          <p:cNvSpPr/>
          <p:nvPr/>
        </p:nvSpPr>
        <p:spPr>
          <a:xfrm>
            <a:off x="7772400" y="1463040"/>
            <a:ext cx="3657600" cy="4846320"/>
          </a:xfrm>
          <a:prstGeom prst="roundRect">
            <a:avLst/>
          </a:prstGeom>
          <a:solidFill>
            <a:srgbClr val="0B1D3A"/>
          </a:solidFill>
          <a:ln>
            <a:solidFill>
              <a:srgbClr val="00A8B5"/>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400" b="1">
                <a:solidFill>
                  <a:srgbClr val="F26522"/>
                </a:solidFill>
              </a:defRPr>
            </a:pPr>
            <a:r>
              <a:t>TEAM CREDENTIALS</a:t>
            </a:r>
          </a:p>
          <a:p>
            <a:pPr>
              <a:defRPr sz="1100" b="1">
                <a:solidFill>
                  <a:srgbClr val="00A8B5"/>
                </a:solidFill>
              </a:defRPr>
            </a:pPr>
            <a:r>
              <a:t>Team Name:</a:t>
            </a:r>
          </a:p>
          <a:p>
            <a:pPr>
              <a:defRPr sz="1100">
                <a:solidFill>
                  <a:srgbClr val="FFFFFF"/>
                </a:solidFill>
              </a:defRPr>
            </a:pPr>
            <a:r>
              <a:t>[Team Name]</a:t>
            </a:r>
          </a:p>
          <a:p>
            <a:pPr>
              <a:defRPr sz="1100" b="1">
                <a:solidFill>
                  <a:srgbClr val="00A8B5"/>
                </a:solidFill>
              </a:defRPr>
            </a:pPr>
            <a:r>
              <a:t>Team ID:</a:t>
            </a:r>
          </a:p>
          <a:p>
            <a:pPr>
              <a:defRPr sz="1100">
                <a:solidFill>
                  <a:srgbClr val="FFFFFF"/>
                </a:solidFill>
              </a:defRPr>
            </a:pPr>
            <a:r>
              <a:t>1146XX</a:t>
            </a:r>
          </a:p>
          <a:p>
            <a:pPr>
              <a:defRPr sz="1100" b="1">
                <a:solidFill>
                  <a:srgbClr val="00A8B5"/>
                </a:solidFill>
              </a:defRPr>
            </a:pPr>
            <a:r>
              <a:t>Institute:</a:t>
            </a:r>
          </a:p>
          <a:p>
            <a:pPr>
              <a:defRPr sz="1100">
                <a:solidFill>
                  <a:srgbClr val="FFFFFF"/>
                </a:solidFill>
              </a:defRPr>
            </a:pPr>
            <a:r>
              <a:t>[Your College / Institute Name]</a:t>
            </a:r>
          </a:p>
          <a:p>
            <a:pPr>
              <a:defRPr sz="1100" b="1">
                <a:solidFill>
                  <a:srgbClr val="00A8B5"/>
                </a:solidFill>
              </a:defRPr>
            </a:pPr>
            <a:r>
              <a:t>Team Leader:</a:t>
            </a:r>
          </a:p>
          <a:p>
            <a:pPr>
              <a:defRPr sz="1100">
                <a:solidFill>
                  <a:srgbClr val="FFFFFF"/>
                </a:solidFill>
              </a:defRPr>
            </a:pPr>
            <a:r>
              <a:t>[Team Leader Name]</a:t>
            </a:r>
          </a:p>
          <a:p>
            <a:pPr>
              <a:defRPr sz="1100" b="1">
                <a:solidFill>
                  <a:srgbClr val="00A8B5"/>
                </a:solidFill>
              </a:defRPr>
            </a:pPr>
            <a:r>
              <a:t>Members:</a:t>
            </a:r>
          </a:p>
          <a:p>
            <a:pPr>
              <a:defRPr sz="1100">
                <a:solidFill>
                  <a:srgbClr val="FFFFFF"/>
                </a:solidFill>
              </a:defRPr>
            </a:pPr>
            <a:r>
              <a:t>Member 1, Member 2, Member 3,</a:t>
            </a:r>
            <a:br/>
            <a:r>
              <a:t>Member 4, Member 5, Member 6</a:t>
            </a:r>
          </a:p>
          <a:p>
            <a:pPr>
              <a:defRPr sz="1100" b="1">
                <a:solidFill>
                  <a:srgbClr val="00A8B5"/>
                </a:solidFill>
              </a:defRPr>
            </a:pPr>
            <a:r>
              <a:t>Primary Stack:</a:t>
            </a:r>
          </a:p>
          <a:p>
            <a:pPr>
              <a:defRPr sz="1100">
                <a:solidFill>
                  <a:srgbClr val="FFFFFF"/>
                </a:solidFill>
              </a:defRPr>
            </a:pPr>
            <a:r>
              <a:t>Python (FastAPI), React 19, LangGraph,</a:t>
            </a:r>
            <a:br/>
            <a:r>
              <a:t>PostgreSQL + pgvector, Gemini / Groq</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8686800" cy="594360"/>
          </a:xfrm>
          <a:prstGeom prst="rect">
            <a:avLst/>
          </a:prstGeom>
          <a:noFill/>
        </p:spPr>
        <p:txBody>
          <a:bodyPr wrap="square">
            <a:spAutoFit/>
          </a:bodyPr>
          <a:lstStyle/>
          <a:p>
            <a:pPr>
              <a:defRPr sz="2200" b="1">
                <a:solidFill>
                  <a:srgbClr val="FFFFFF"/>
                </a:solidFill>
              </a:defRPr>
            </a:pPr>
            <a:r>
              <a:t>PROPOSED SOLUTION: MANAKSPEC AI PLATFORM</a:t>
            </a:r>
          </a:p>
        </p:txBody>
      </p:sp>
      <p:sp>
        <p:nvSpPr>
          <p:cNvPr id="5" name="TextBox 4"/>
          <p:cNvSpPr txBox="1"/>
          <p:nvPr/>
        </p:nvSpPr>
        <p:spPr>
          <a:xfrm>
            <a:off x="9326880" y="109728"/>
            <a:ext cx="2286000" cy="594360"/>
          </a:xfrm>
          <a:prstGeom prst="rect">
            <a:avLst/>
          </a:prstGeom>
          <a:noFill/>
        </p:spPr>
        <p:txBody>
          <a:bodyPr wrap="none">
            <a:spAutoFit/>
          </a:bodyPr>
          <a:lstStyle/>
          <a:p>
            <a:pPr algn="r">
              <a:defRPr sz="1100" b="1">
                <a:solidFill>
                  <a:srgbClr val="F26522"/>
                </a:solidFill>
              </a:defRPr>
            </a:pPr>
            <a:r>
              <a:t>SMART INDIA HACKATHON 2025</a:t>
            </a:r>
          </a:p>
        </p:txBody>
      </p:sp>
      <p:sp>
        <p:nvSpPr>
          <p:cNvPr id="6" name="Rectangle 5"/>
          <p:cNvSpPr/>
          <p:nvPr/>
        </p:nvSpPr>
        <p:spPr>
          <a:xfrm>
            <a:off x="0" y="822960"/>
            <a:ext cx="12191695" cy="54864"/>
          </a:xfrm>
          <a:prstGeom prst="rect">
            <a:avLst/>
          </a:prstGeom>
          <a:solidFill>
            <a:srgbClr val="00A8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1612880" y="6446520"/>
            <a:ext cx="411480" cy="292608"/>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2</a:t>
            </a:r>
          </a:p>
        </p:txBody>
      </p:sp>
      <p:sp>
        <p:nvSpPr>
          <p:cNvPr id="8" name="Rounded Rectangle 7"/>
          <p:cNvSpPr/>
          <p:nvPr/>
        </p:nvSpPr>
        <p:spPr>
          <a:xfrm>
            <a:off x="548640" y="1051560"/>
            <a:ext cx="5120640" cy="960120"/>
          </a:xfrm>
          <a:prstGeom prst="roundRect">
            <a:avLst/>
          </a:prstGeom>
          <a:solidFill>
            <a:srgbClr val="FFFFFF"/>
          </a:solidFill>
          <a:ln>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B1D3A"/>
                </a:solidFill>
              </a:defRPr>
            </a:pPr>
            <a:r>
              <a:t>❖  Multilingual Procurement Querying</a:t>
            </a:r>
          </a:p>
          <a:p>
            <a:pPr>
              <a:defRPr sz="1000">
                <a:solidFill>
                  <a:srgbClr val="505F73"/>
                </a:solidFill>
              </a:defRPr>
            </a:pPr>
            <a:r>
              <a:t>Accepts raw tender scopes in English, Hindi, Tamil, Telugu, etc. Automatically translates and expands domain keywords into standardized BIS terminology.</a:t>
            </a:r>
          </a:p>
        </p:txBody>
      </p:sp>
      <p:sp>
        <p:nvSpPr>
          <p:cNvPr id="9" name="Rounded Rectangle 8"/>
          <p:cNvSpPr/>
          <p:nvPr/>
        </p:nvSpPr>
        <p:spPr>
          <a:xfrm>
            <a:off x="548640" y="2084831"/>
            <a:ext cx="5120640" cy="960120"/>
          </a:xfrm>
          <a:prstGeom prst="roundRect">
            <a:avLst/>
          </a:prstGeom>
          <a:solidFill>
            <a:srgbClr val="FFFFFF"/>
          </a:solidFill>
          <a:ln>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B1D3A"/>
                </a:solidFill>
              </a:defRPr>
            </a:pPr>
            <a:r>
              <a:t>❖  Dual-Engine Hybrid Retrieval (pgvector + IS)</a:t>
            </a:r>
          </a:p>
          <a:p>
            <a:pPr>
              <a:defRPr sz="1000">
                <a:solidFill>
                  <a:srgbClr val="505F73"/>
                </a:solidFill>
              </a:defRPr>
            </a:pPr>
            <a:r>
              <a:t>Blends 768-dim semantic dense embeddings with exact regex-based Indian Standard code matching (e.g., IS 4984, IS 16106) for 100% precision.</a:t>
            </a:r>
          </a:p>
        </p:txBody>
      </p:sp>
      <p:sp>
        <p:nvSpPr>
          <p:cNvPr id="10" name="Rounded Rectangle 9"/>
          <p:cNvSpPr/>
          <p:nvPr/>
        </p:nvSpPr>
        <p:spPr>
          <a:xfrm>
            <a:off x="548640" y="3118103"/>
            <a:ext cx="5120640" cy="960120"/>
          </a:xfrm>
          <a:prstGeom prst="roundRect">
            <a:avLst/>
          </a:prstGeom>
          <a:solidFill>
            <a:srgbClr val="FFFFFF"/>
          </a:solidFill>
          <a:ln>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B1D3A"/>
                </a:solidFill>
              </a:defRPr>
            </a:pPr>
            <a:r>
              <a:t>❖  6-Way Allied Standards Classification</a:t>
            </a:r>
          </a:p>
          <a:p>
            <a:pPr>
              <a:defRPr sz="1000">
                <a:solidFill>
                  <a:srgbClr val="505F73"/>
                </a:solidFill>
              </a:defRPr>
            </a:pPr>
            <a:r>
              <a:t>Automatically extracts and classifies co-referenced standards into: Test Methods, Safety Codes, Terminology, Installation, Products, &amp; Normative Refs.</a:t>
            </a:r>
          </a:p>
        </p:txBody>
      </p:sp>
      <p:sp>
        <p:nvSpPr>
          <p:cNvPr id="11" name="Rounded Rectangle 10"/>
          <p:cNvSpPr/>
          <p:nvPr/>
        </p:nvSpPr>
        <p:spPr>
          <a:xfrm>
            <a:off x="548640" y="4151375"/>
            <a:ext cx="5120640" cy="960120"/>
          </a:xfrm>
          <a:prstGeom prst="roundRect">
            <a:avLst/>
          </a:prstGeom>
          <a:solidFill>
            <a:srgbClr val="FFFFFF"/>
          </a:solidFill>
          <a:ln>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B1D3A"/>
                </a:solidFill>
              </a:defRPr>
            </a:pPr>
            <a:r>
              <a:t>❖  Mandatory QCO Compliance &amp; Clause Generation</a:t>
            </a:r>
          </a:p>
          <a:p>
            <a:pPr>
              <a:defRPr sz="1000">
                <a:solidFill>
                  <a:srgbClr val="505F73"/>
                </a:solidFill>
              </a:defRPr>
            </a:pPr>
            <a:r>
              <a:t>Cross-references active Quality Control Orders (QCO) to prevent non-compliant procurement; auto-drafts legally compliant tender clauses.</a:t>
            </a:r>
          </a:p>
        </p:txBody>
      </p:sp>
      <p:sp>
        <p:nvSpPr>
          <p:cNvPr id="12" name="Rounded Rectangle 11"/>
          <p:cNvSpPr/>
          <p:nvPr/>
        </p:nvSpPr>
        <p:spPr>
          <a:xfrm>
            <a:off x="5852160" y="1051560"/>
            <a:ext cx="5760720" cy="4069080"/>
          </a:xfrm>
          <a:prstGeom prst="roundRect">
            <a:avLst/>
          </a:prstGeom>
          <a:solidFill>
            <a:srgbClr val="0B1D3A"/>
          </a:solidFill>
          <a:ln>
            <a:solidFill>
              <a:srgbClr val="00A8B5"/>
            </a:solidFill>
          </a:ln>
        </p:spPr>
        <p:style>
          <a:lnRef idx="1">
            <a:schemeClr val="accent1"/>
          </a:lnRef>
          <a:fillRef idx="3">
            <a:schemeClr val="accent1"/>
          </a:fillRef>
          <a:effectRef idx="2">
            <a:schemeClr val="accent1"/>
          </a:effectRef>
          <a:fontRef idx="minor">
            <a:schemeClr val="lt1"/>
          </a:fontRef>
        </p:style>
        <p:txBody>
          <a:bodyPr rtlCol="0" anchor="t"/>
          <a:lstStyle/>
          <a:p>
            <a:pPr algn="ctr">
              <a:defRPr sz="1200" b="1">
                <a:solidFill>
                  <a:srgbClr val="FFFFFF"/>
                </a:solidFill>
              </a:defRPr>
            </a:pPr>
            <a:r>
              <a:t>WORKING PROTOTYPE: MANAKSPEC COMPLIANCE SUITE</a:t>
            </a:r>
          </a:p>
        </p:txBody>
      </p:sp>
      <p:pic>
        <p:nvPicPr>
          <p:cNvPr id="13" name="Picture 12" descr="manakspec_prototype_ui_1790224434184.jpg"/>
          <p:cNvPicPr>
            <a:picLocks noChangeAspect="1"/>
          </p:cNvPicPr>
          <p:nvPr/>
        </p:nvPicPr>
        <p:blipFill>
          <a:blip r:embed="rId2"/>
          <a:stretch>
            <a:fillRect/>
          </a:stretch>
        </p:blipFill>
        <p:spPr>
          <a:xfrm>
            <a:off x="5943600" y="1371600"/>
            <a:ext cx="5577840" cy="3154680"/>
          </a:xfrm>
          <a:prstGeom prst="rect">
            <a:avLst/>
          </a:prstGeom>
        </p:spPr>
      </p:pic>
      <p:sp>
        <p:nvSpPr>
          <p:cNvPr id="14" name="TextBox 13"/>
          <p:cNvSpPr txBox="1"/>
          <p:nvPr/>
        </p:nvSpPr>
        <p:spPr>
          <a:xfrm>
            <a:off x="5943600" y="4526280"/>
            <a:ext cx="5577840" cy="548640"/>
          </a:xfrm>
          <a:prstGeom prst="rect">
            <a:avLst/>
          </a:prstGeom>
          <a:noFill/>
        </p:spPr>
        <p:txBody>
          <a:bodyPr wrap="none">
            <a:spAutoFit/>
          </a:bodyPr>
          <a:lstStyle/>
          <a:p>
            <a:pPr>
              <a:defRPr sz="950">
                <a:solidFill>
                  <a:srgbClr val="00A8B5"/>
                </a:solidFill>
              </a:defRPr>
            </a:pPr>
            <a:r>
              <a:t>• Live Query: 'IS 4984:2016 HDPE Pipes' | Verified BIS Hallmark | Mandatory QCO Listed</a:t>
            </a:r>
            <a:br/>
            <a:r>
              <a:t>• Granular Allied Breakdown: IS 2530 (Tests) &amp; IS 7634 (Installation) | Instant PDF/DOCX Export</a:t>
            </a:r>
          </a:p>
        </p:txBody>
      </p:sp>
      <p:sp>
        <p:nvSpPr>
          <p:cNvPr id="15" name="Rounded Rectangle 14"/>
          <p:cNvSpPr/>
          <p:nvPr/>
        </p:nvSpPr>
        <p:spPr>
          <a:xfrm>
            <a:off x="548640" y="5303520"/>
            <a:ext cx="5577840" cy="1280160"/>
          </a:xfrm>
          <a:prstGeom prst="roundRect">
            <a:avLst/>
          </a:prstGeom>
          <a:solidFill>
            <a:srgbClr val="FFFFFF"/>
          </a:solidFill>
          <a:ln>
            <a:solidFill>
              <a:srgbClr val="00A8B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B1D3A"/>
                </a:solidFill>
              </a:defRPr>
            </a:pPr>
            <a:r>
              <a:t>HOW IT SOLVES GOVT &amp; INDUSTRY PROBLEMS:</a:t>
            </a:r>
          </a:p>
          <a:p>
            <a:pPr>
              <a:defRPr sz="950">
                <a:solidFill>
                  <a:srgbClr val="0F172A"/>
                </a:solidFill>
              </a:defRPr>
            </a:pPr>
            <a:r>
              <a:t>1. Replaces manual browsing of 20,000+ BIS standards with instant AI recommendations.</a:t>
            </a:r>
          </a:p>
          <a:p>
            <a:pPr>
              <a:defRPr sz="950">
                <a:solidFill>
                  <a:srgbClr val="0F172A"/>
                </a:solidFill>
              </a:defRPr>
            </a:pPr>
            <a:r>
              <a:t>2. Eliminates tender litigations &amp; scrap audits caused by missing mandatory QCO clauses.</a:t>
            </a:r>
          </a:p>
          <a:p>
            <a:pPr>
              <a:defRPr sz="950">
                <a:solidFill>
                  <a:srgbClr val="0F172A"/>
                </a:solidFill>
              </a:defRPr>
            </a:pPr>
            <a:r>
              <a:t>3. Bridges regional language barriers for municipal engineers &amp; local suppliers.</a:t>
            </a:r>
          </a:p>
        </p:txBody>
      </p:sp>
      <p:sp>
        <p:nvSpPr>
          <p:cNvPr id="16" name="Rounded Rectangle 15"/>
          <p:cNvSpPr/>
          <p:nvPr/>
        </p:nvSpPr>
        <p:spPr>
          <a:xfrm>
            <a:off x="6309360" y="5303520"/>
            <a:ext cx="5303520" cy="1280160"/>
          </a:xfrm>
          <a:prstGeom prst="roundRect">
            <a:avLst/>
          </a:prstGeom>
          <a:solidFill>
            <a:srgbClr val="172A46"/>
          </a:solidFill>
          <a:ln>
            <a:solidFill>
              <a:srgbClr val="F2652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26522"/>
                </a:solidFill>
              </a:defRPr>
            </a:pPr>
            <a:r>
              <a:t>KEY INNOVATIONS &amp; UNIQUENESS:</a:t>
            </a:r>
          </a:p>
          <a:p>
            <a:pPr>
              <a:defRPr sz="950">
                <a:solidFill>
                  <a:srgbClr val="FFFFFF"/>
                </a:solidFill>
              </a:defRPr>
            </a:pPr>
            <a:r>
              <a:t>1. 6-Way Allied Taxonomy: First system to isolate test methods from installation codes.</a:t>
            </a:r>
          </a:p>
          <a:p>
            <a:pPr>
              <a:defRPr sz="950">
                <a:solidFill>
                  <a:srgbClr val="FFFFFF"/>
                </a:solidFill>
              </a:defRPr>
            </a:pPr>
            <a:r>
              <a:t>2. Zero-Dependency PDF 1.4 &amp; Word OpenXML vector export engine.</a:t>
            </a:r>
          </a:p>
          <a:p>
            <a:pPr>
              <a:defRPr sz="950">
                <a:solidFill>
                  <a:srgbClr val="FFFFFF"/>
                </a:solidFill>
              </a:defRPr>
            </a:pPr>
            <a:r>
              <a:t>3. LangGraph Orchestrator with automated fallback across Gemini, Groq, and local Ollama.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8686800" cy="594360"/>
          </a:xfrm>
          <a:prstGeom prst="rect">
            <a:avLst/>
          </a:prstGeom>
          <a:noFill/>
        </p:spPr>
        <p:txBody>
          <a:bodyPr wrap="square">
            <a:spAutoFit/>
          </a:bodyPr>
          <a:lstStyle/>
          <a:p>
            <a:pPr>
              <a:defRPr sz="2200" b="1">
                <a:solidFill>
                  <a:srgbClr val="FFFFFF"/>
                </a:solidFill>
              </a:defRPr>
            </a:pPr>
            <a:r>
              <a:t>TECHNICAL APPROACH &amp; SYSTEM ARCHITECTURE</a:t>
            </a:r>
          </a:p>
        </p:txBody>
      </p:sp>
      <p:sp>
        <p:nvSpPr>
          <p:cNvPr id="5" name="TextBox 4"/>
          <p:cNvSpPr txBox="1"/>
          <p:nvPr/>
        </p:nvSpPr>
        <p:spPr>
          <a:xfrm>
            <a:off x="9326880" y="109728"/>
            <a:ext cx="2286000" cy="594360"/>
          </a:xfrm>
          <a:prstGeom prst="rect">
            <a:avLst/>
          </a:prstGeom>
          <a:noFill/>
        </p:spPr>
        <p:txBody>
          <a:bodyPr wrap="none">
            <a:spAutoFit/>
          </a:bodyPr>
          <a:lstStyle/>
          <a:p>
            <a:pPr algn="r">
              <a:defRPr sz="1100" b="1">
                <a:solidFill>
                  <a:srgbClr val="F26522"/>
                </a:solidFill>
              </a:defRPr>
            </a:pPr>
            <a:r>
              <a:t>SMART INDIA HACKATHON 2025</a:t>
            </a:r>
          </a:p>
        </p:txBody>
      </p:sp>
      <p:sp>
        <p:nvSpPr>
          <p:cNvPr id="6" name="Rectangle 5"/>
          <p:cNvSpPr/>
          <p:nvPr/>
        </p:nvSpPr>
        <p:spPr>
          <a:xfrm>
            <a:off x="0" y="822960"/>
            <a:ext cx="12191695" cy="54864"/>
          </a:xfrm>
          <a:prstGeom prst="rect">
            <a:avLst/>
          </a:prstGeom>
          <a:solidFill>
            <a:srgbClr val="00A8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1612880" y="6446520"/>
            <a:ext cx="411480" cy="292608"/>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3</a:t>
            </a:r>
          </a:p>
        </p:txBody>
      </p:sp>
      <p:sp>
        <p:nvSpPr>
          <p:cNvPr id="8" name="TextBox 7"/>
          <p:cNvSpPr txBox="1"/>
          <p:nvPr/>
        </p:nvSpPr>
        <p:spPr>
          <a:xfrm>
            <a:off x="548640" y="960120"/>
            <a:ext cx="7315200" cy="365760"/>
          </a:xfrm>
          <a:prstGeom prst="rect">
            <a:avLst/>
          </a:prstGeom>
          <a:noFill/>
        </p:spPr>
        <p:txBody>
          <a:bodyPr wrap="none">
            <a:spAutoFit/>
          </a:bodyPr>
          <a:lstStyle/>
          <a:p>
            <a:pPr>
              <a:defRPr sz="1200" b="1">
                <a:solidFill>
                  <a:srgbClr val="0B1D3A"/>
                </a:solidFill>
              </a:defRPr>
            </a:pPr>
            <a:r>
              <a:t>END-TO-END DATAFLOW &amp; AGENTIC ORCHESTRATION PIPELINE</a:t>
            </a:r>
          </a:p>
        </p:txBody>
      </p:sp>
      <p:sp>
        <p:nvSpPr>
          <p:cNvPr id="9" name="Rounded Rectangle 8"/>
          <p:cNvSpPr/>
          <p:nvPr/>
        </p:nvSpPr>
        <p:spPr>
          <a:xfrm>
            <a:off x="548640" y="1325880"/>
            <a:ext cx="1737360" cy="2468880"/>
          </a:xfrm>
          <a:prstGeom prst="roundRect">
            <a:avLst/>
          </a:prstGeom>
          <a:solidFill>
            <a:srgbClr val="FFFFFF"/>
          </a:solidFill>
          <a:ln w="19050">
            <a:solidFill>
              <a:srgbClr val="0B1D3A"/>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050" b="1">
                <a:solidFill>
                  <a:srgbClr val="0B1D3A"/>
                </a:solidFill>
              </a:defRPr>
            </a:pPr>
            <a:r>
              <a:t>Step 1: Input Ingestion</a:t>
            </a:r>
          </a:p>
          <a:p>
            <a:pPr algn="ctr">
              <a:defRPr sz="700">
                <a:solidFill>
                  <a:srgbClr val="00A8B5"/>
                </a:solidFill>
              </a:defRPr>
            </a:pPr>
            <a:r>
              <a:t>───────────────</a:t>
            </a:r>
          </a:p>
          <a:p>
            <a:pPr>
              <a:defRPr sz="900">
                <a:solidFill>
                  <a:srgbClr val="0F172A"/>
                </a:solidFill>
              </a:defRPr>
            </a:pPr>
            <a:r>
              <a:t>• Tender Scope / Query (Text)</a:t>
            </a:r>
            <a:br/>
            <a:r>
              <a:t>• Upload Specs (PDF, DOCX, Img)</a:t>
            </a:r>
            <a:br/>
            <a:r>
              <a:t>• Tesseract OCR ('hin+eng')</a:t>
            </a:r>
          </a:p>
        </p:txBody>
      </p:sp>
      <p:sp>
        <p:nvSpPr>
          <p:cNvPr id="10" name="Rounded Rectangle 9"/>
          <p:cNvSpPr/>
          <p:nvPr/>
        </p:nvSpPr>
        <p:spPr>
          <a:xfrm>
            <a:off x="2395728" y="1325880"/>
            <a:ext cx="1737360" cy="2468880"/>
          </a:xfrm>
          <a:prstGeom prst="roundRect">
            <a:avLst/>
          </a:prstGeom>
          <a:solidFill>
            <a:srgbClr val="FFFFFF"/>
          </a:solidFill>
          <a:ln w="19050">
            <a:solidFill>
              <a:srgbClr val="00A8B5"/>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050" b="1">
                <a:solidFill>
                  <a:srgbClr val="0B1D3A"/>
                </a:solidFill>
              </a:defRPr>
            </a:pPr>
            <a:r>
              <a:t>Step 2: Query Expansion</a:t>
            </a:r>
          </a:p>
          <a:p>
            <a:pPr algn="ctr">
              <a:defRPr sz="700">
                <a:solidFill>
                  <a:srgbClr val="00A8B5"/>
                </a:solidFill>
              </a:defRPr>
            </a:pPr>
            <a:r>
              <a:t>───────────────</a:t>
            </a:r>
          </a:p>
          <a:p>
            <a:pPr>
              <a:defRPr sz="900">
                <a:solidFill>
                  <a:srgbClr val="0F172A"/>
                </a:solidFill>
              </a:defRPr>
            </a:pPr>
            <a:r>
              <a:t>• Detect Input Language</a:t>
            </a:r>
            <a:br/>
            <a:r>
              <a:t>• Indic to English Domain Term</a:t>
            </a:r>
            <a:br/>
            <a:r>
              <a:t>• Extract Code RegEx (IS XXXX)</a:t>
            </a:r>
          </a:p>
        </p:txBody>
      </p:sp>
      <p:sp>
        <p:nvSpPr>
          <p:cNvPr id="11" name="Rounded Rectangle 10"/>
          <p:cNvSpPr/>
          <p:nvPr/>
        </p:nvSpPr>
        <p:spPr>
          <a:xfrm>
            <a:off x="4242816" y="1325880"/>
            <a:ext cx="1737360" cy="2468880"/>
          </a:xfrm>
          <a:prstGeom prst="roundRect">
            <a:avLst/>
          </a:prstGeom>
          <a:solidFill>
            <a:srgbClr val="FFFFFF"/>
          </a:solidFill>
          <a:ln w="19050">
            <a:solidFill>
              <a:srgbClr val="0B1D3A"/>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050" b="1">
                <a:solidFill>
                  <a:srgbClr val="0B1D3A"/>
                </a:solidFill>
              </a:defRPr>
            </a:pPr>
            <a:r>
              <a:t>Step 3: LangGraph Agent</a:t>
            </a:r>
          </a:p>
          <a:p>
            <a:pPr algn="ctr">
              <a:defRPr sz="700">
                <a:solidFill>
                  <a:srgbClr val="00A8B5"/>
                </a:solidFill>
              </a:defRPr>
            </a:pPr>
            <a:r>
              <a:t>───────────────</a:t>
            </a:r>
          </a:p>
          <a:p>
            <a:pPr>
              <a:defRPr sz="900">
                <a:solidFill>
                  <a:srgbClr val="0F172A"/>
                </a:solidFill>
              </a:defRPr>
            </a:pPr>
            <a:r>
              <a:t>• StateGraph Orchestrator</a:t>
            </a:r>
            <a:br/>
            <a:r>
              <a:t>• Context Routing &amp; Memory</a:t>
            </a:r>
            <a:br/>
            <a:r>
              <a:t>• Multi-Turn State Synchronization</a:t>
            </a:r>
          </a:p>
        </p:txBody>
      </p:sp>
      <p:sp>
        <p:nvSpPr>
          <p:cNvPr id="12" name="Rounded Rectangle 11"/>
          <p:cNvSpPr/>
          <p:nvPr/>
        </p:nvSpPr>
        <p:spPr>
          <a:xfrm>
            <a:off x="6089904" y="1325880"/>
            <a:ext cx="1737360" cy="2468880"/>
          </a:xfrm>
          <a:prstGeom prst="roundRect">
            <a:avLst/>
          </a:prstGeom>
          <a:solidFill>
            <a:srgbClr val="FFFFFF"/>
          </a:solidFill>
          <a:ln w="19050">
            <a:solidFill>
              <a:srgbClr val="00A8B5"/>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050" b="1">
                <a:solidFill>
                  <a:srgbClr val="0B1D3A"/>
                </a:solidFill>
              </a:defRPr>
            </a:pPr>
            <a:r>
              <a:t>Step 4: Hybrid Retriever</a:t>
            </a:r>
          </a:p>
          <a:p>
            <a:pPr algn="ctr">
              <a:defRPr sz="700">
                <a:solidFill>
                  <a:srgbClr val="00A8B5"/>
                </a:solidFill>
              </a:defRPr>
            </a:pPr>
            <a:r>
              <a:t>───────────────</a:t>
            </a:r>
          </a:p>
          <a:p>
            <a:pPr>
              <a:defRPr sz="900">
                <a:solidFill>
                  <a:srgbClr val="0F172A"/>
                </a:solidFill>
              </a:defRPr>
            </a:pPr>
            <a:r>
              <a:t>• PostgreSQL + pgvector (HNSW)</a:t>
            </a:r>
            <a:br/>
            <a:r>
              <a:t>• 768-dim FastEmbed Cosine Sim</a:t>
            </a:r>
            <a:br/>
            <a:r>
              <a:t>• Lexical BM25 &amp; QCO Lookup</a:t>
            </a:r>
          </a:p>
        </p:txBody>
      </p:sp>
      <p:sp>
        <p:nvSpPr>
          <p:cNvPr id="13" name="Rounded Rectangle 12"/>
          <p:cNvSpPr/>
          <p:nvPr/>
        </p:nvSpPr>
        <p:spPr>
          <a:xfrm>
            <a:off x="7936992" y="1325880"/>
            <a:ext cx="1737360" cy="2468880"/>
          </a:xfrm>
          <a:prstGeom prst="roundRect">
            <a:avLst/>
          </a:prstGeom>
          <a:solidFill>
            <a:srgbClr val="FFFFFF"/>
          </a:solidFill>
          <a:ln w="19050">
            <a:solidFill>
              <a:srgbClr val="0B1D3A"/>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050" b="1">
                <a:solidFill>
                  <a:srgbClr val="0B1D3A"/>
                </a:solidFill>
              </a:defRPr>
            </a:pPr>
            <a:r>
              <a:t>Step 5: Response Synthesis</a:t>
            </a:r>
          </a:p>
          <a:p>
            <a:pPr algn="ctr">
              <a:defRPr sz="700">
                <a:solidFill>
                  <a:srgbClr val="00A8B5"/>
                </a:solidFill>
              </a:defRPr>
            </a:pPr>
            <a:r>
              <a:t>───────────────</a:t>
            </a:r>
          </a:p>
          <a:p>
            <a:pPr>
              <a:defRPr sz="900">
                <a:solidFill>
                  <a:srgbClr val="0F172A"/>
                </a:solidFill>
              </a:defRPr>
            </a:pPr>
            <a:r>
              <a:t>• LLM Engine (Gemini / Groq / Ollama)</a:t>
            </a:r>
            <a:br/>
            <a:r>
              <a:t>• 6-Tier Allied Standards Parser</a:t>
            </a:r>
            <a:br/>
            <a:r>
              <a:t>• Target Language Synthesis</a:t>
            </a:r>
          </a:p>
        </p:txBody>
      </p:sp>
      <p:sp>
        <p:nvSpPr>
          <p:cNvPr id="14" name="Rounded Rectangle 13"/>
          <p:cNvSpPr/>
          <p:nvPr/>
        </p:nvSpPr>
        <p:spPr>
          <a:xfrm>
            <a:off x="9784080" y="1325880"/>
            <a:ext cx="1737360" cy="2468880"/>
          </a:xfrm>
          <a:prstGeom prst="roundRect">
            <a:avLst/>
          </a:prstGeom>
          <a:solidFill>
            <a:srgbClr val="FFFFFF"/>
          </a:solidFill>
          <a:ln w="19050">
            <a:solidFill>
              <a:srgbClr val="00A8B5"/>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050" b="1">
                <a:solidFill>
                  <a:srgbClr val="0B1D3A"/>
                </a:solidFill>
              </a:defRPr>
            </a:pPr>
            <a:r>
              <a:t>Step 6: Export &amp; Output</a:t>
            </a:r>
          </a:p>
          <a:p>
            <a:pPr algn="ctr">
              <a:defRPr sz="700">
                <a:solidFill>
                  <a:srgbClr val="00A8B5"/>
                </a:solidFill>
              </a:defRPr>
            </a:pPr>
            <a:r>
              <a:t>───────────────</a:t>
            </a:r>
          </a:p>
          <a:p>
            <a:pPr>
              <a:defRPr sz="900">
                <a:solidFill>
                  <a:srgbClr val="0F172A"/>
                </a:solidFill>
              </a:defRPr>
            </a:pPr>
            <a:r>
              <a:t>• Interactive React Dashboard</a:t>
            </a:r>
            <a:br/>
            <a:r>
              <a:t>• Adobe PDF 1.4 Vector Export</a:t>
            </a:r>
            <a:br/>
            <a:r>
              <a:t>• Word (.docx) &amp; JSON API</a:t>
            </a:r>
          </a:p>
        </p:txBody>
      </p:sp>
      <p:sp>
        <p:nvSpPr>
          <p:cNvPr id="15" name="TextBox 14"/>
          <p:cNvSpPr txBox="1"/>
          <p:nvPr/>
        </p:nvSpPr>
        <p:spPr>
          <a:xfrm>
            <a:off x="548640" y="3931920"/>
            <a:ext cx="7315200" cy="320040"/>
          </a:xfrm>
          <a:prstGeom prst="rect">
            <a:avLst/>
          </a:prstGeom>
          <a:noFill/>
        </p:spPr>
        <p:txBody>
          <a:bodyPr wrap="none">
            <a:spAutoFit/>
          </a:bodyPr>
          <a:lstStyle/>
          <a:p>
            <a:pPr>
              <a:defRPr sz="1200" b="1">
                <a:solidFill>
                  <a:srgbClr val="0B1D3A"/>
                </a:solidFill>
              </a:defRPr>
            </a:pPr>
            <a:r>
              <a:t>PRODUCTION TECH STACK &amp; SYSTEM INFRASTRUCTURE</a:t>
            </a:r>
          </a:p>
        </p:txBody>
      </p:sp>
      <p:sp>
        <p:nvSpPr>
          <p:cNvPr id="16" name="Rounded Rectangle 15"/>
          <p:cNvSpPr/>
          <p:nvPr/>
        </p:nvSpPr>
        <p:spPr>
          <a:xfrm>
            <a:off x="548640" y="4297680"/>
            <a:ext cx="2103120" cy="2148840"/>
          </a:xfrm>
          <a:prstGeom prst="roundRect">
            <a:avLst/>
          </a:prstGeom>
          <a:solidFill>
            <a:srgbClr val="0B1D3A"/>
          </a:solidFill>
          <a:ln w="12700">
            <a:solidFill>
              <a:srgbClr val="00A8B5"/>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b="1">
                <a:solidFill>
                  <a:srgbClr val="00A8B5"/>
                </a:solidFill>
              </a:defRPr>
            </a:pPr>
            <a:r>
              <a:t>Frontend &amp; UI</a:t>
            </a:r>
          </a:p>
          <a:p>
            <a:pPr>
              <a:defRPr sz="900">
                <a:solidFill>
                  <a:srgbClr val="FFFFFF"/>
                </a:solidFill>
              </a:defRPr>
            </a:pPr>
            <a:r>
              <a:t>• React 19 + TypeScript + Vite</a:t>
            </a:r>
            <a:br/>
            <a:r>
              <a:t>• Tailwind CSS &amp; CSS Modules</a:t>
            </a:r>
            <a:br/>
            <a:r>
              <a:t>• Lucide Icons &amp; Responsive Design</a:t>
            </a:r>
            <a:br/>
            <a:r>
              <a:t>• Bilingual State Toggles (EN / HI)</a:t>
            </a:r>
          </a:p>
        </p:txBody>
      </p:sp>
      <p:sp>
        <p:nvSpPr>
          <p:cNvPr id="17" name="Rounded Rectangle 16"/>
          <p:cNvSpPr/>
          <p:nvPr/>
        </p:nvSpPr>
        <p:spPr>
          <a:xfrm>
            <a:off x="2788920" y="4297680"/>
            <a:ext cx="2103120" cy="2148840"/>
          </a:xfrm>
          <a:prstGeom prst="roundRect">
            <a:avLst/>
          </a:prstGeom>
          <a:solidFill>
            <a:srgbClr val="172A46"/>
          </a:solidFill>
          <a:ln w="12700">
            <a:solidFill>
              <a:srgbClr val="00A8B5"/>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b="1">
                <a:solidFill>
                  <a:srgbClr val="F26522"/>
                </a:solidFill>
              </a:defRPr>
            </a:pPr>
            <a:r>
              <a:t>Backend &amp; Ingestion</a:t>
            </a:r>
          </a:p>
          <a:p>
            <a:pPr>
              <a:defRPr sz="900">
                <a:solidFill>
                  <a:srgbClr val="FFFFFF"/>
                </a:solidFill>
              </a:defRPr>
            </a:pPr>
            <a:r>
              <a:t>• FastAPI (Python 3.13 Async)</a:t>
            </a:r>
            <a:br/>
            <a:r>
              <a:t>• AsyncPG Connection Pool</a:t>
            </a:r>
            <a:br/>
            <a:r>
              <a:t>• PyMuPDF / python-docx Parsing</a:t>
            </a:r>
            <a:br/>
            <a:r>
              <a:t>• Tesseract OCR ('hin+eng' fallback)</a:t>
            </a:r>
          </a:p>
        </p:txBody>
      </p:sp>
      <p:sp>
        <p:nvSpPr>
          <p:cNvPr id="18" name="Rounded Rectangle 17"/>
          <p:cNvSpPr/>
          <p:nvPr/>
        </p:nvSpPr>
        <p:spPr>
          <a:xfrm>
            <a:off x="5029200" y="4297680"/>
            <a:ext cx="2103120" cy="2148840"/>
          </a:xfrm>
          <a:prstGeom prst="roundRect">
            <a:avLst/>
          </a:prstGeom>
          <a:solidFill>
            <a:srgbClr val="0B1D3A"/>
          </a:solidFill>
          <a:ln w="12700">
            <a:solidFill>
              <a:srgbClr val="00A8B5"/>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b="1">
                <a:solidFill>
                  <a:srgbClr val="00A8B5"/>
                </a:solidFill>
              </a:defRPr>
            </a:pPr>
            <a:r>
              <a:t>Agent &amp; AI Core</a:t>
            </a:r>
          </a:p>
          <a:p>
            <a:pPr>
              <a:defRPr sz="900">
                <a:solidFill>
                  <a:srgbClr val="FFFFFF"/>
                </a:solidFill>
              </a:defRPr>
            </a:pPr>
            <a:r>
              <a:t>• LangGraph StateGraph Workflow</a:t>
            </a:r>
            <a:br/>
            <a:r>
              <a:t>• Google Gemini 2.5 Flash / Groq Llama-3.3</a:t>
            </a:r>
            <a:br/>
            <a:r>
              <a:t>• FastEmbed (BAAI/bge-base-en-v1.5)</a:t>
            </a:r>
            <a:br/>
            <a:r>
              <a:t>• Local Ollama Zero-Cloud Fallback</a:t>
            </a:r>
          </a:p>
        </p:txBody>
      </p:sp>
      <p:sp>
        <p:nvSpPr>
          <p:cNvPr id="19" name="Rounded Rectangle 18"/>
          <p:cNvSpPr/>
          <p:nvPr/>
        </p:nvSpPr>
        <p:spPr>
          <a:xfrm>
            <a:off x="7269480" y="4297680"/>
            <a:ext cx="2103120" cy="2148840"/>
          </a:xfrm>
          <a:prstGeom prst="roundRect">
            <a:avLst/>
          </a:prstGeom>
          <a:solidFill>
            <a:srgbClr val="172A46"/>
          </a:solidFill>
          <a:ln w="12700">
            <a:solidFill>
              <a:srgbClr val="00A8B5"/>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b="1">
                <a:solidFill>
                  <a:srgbClr val="F26522"/>
                </a:solidFill>
              </a:defRPr>
            </a:pPr>
            <a:r>
              <a:t>Database &amp; Storage</a:t>
            </a:r>
          </a:p>
          <a:p>
            <a:pPr>
              <a:defRPr sz="900">
                <a:solidFill>
                  <a:srgbClr val="FFFFFF"/>
                </a:solidFill>
              </a:defRPr>
            </a:pPr>
            <a:r>
              <a:t>• PostgreSQL 16 (AWS Neon Serverless)</a:t>
            </a:r>
            <a:br/>
            <a:r>
              <a:t>• pgvector HNSW Indexing (768-dim)</a:t>
            </a:r>
            <a:br/>
            <a:r>
              <a:t>• Relational Schema for Standards &amp; QCO</a:t>
            </a:r>
            <a:br/>
            <a:r>
              <a:t>• Session Memory &amp; Chat Persistence</a:t>
            </a:r>
          </a:p>
        </p:txBody>
      </p:sp>
      <p:sp>
        <p:nvSpPr>
          <p:cNvPr id="20" name="Rounded Rectangle 19"/>
          <p:cNvSpPr/>
          <p:nvPr/>
        </p:nvSpPr>
        <p:spPr>
          <a:xfrm>
            <a:off x="9509760" y="4297680"/>
            <a:ext cx="2103120" cy="2148840"/>
          </a:xfrm>
          <a:prstGeom prst="roundRect">
            <a:avLst/>
          </a:prstGeom>
          <a:solidFill>
            <a:srgbClr val="0B1D3A"/>
          </a:solidFill>
          <a:ln w="12700">
            <a:solidFill>
              <a:srgbClr val="00A8B5"/>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b="1">
                <a:solidFill>
                  <a:srgbClr val="00A8B5"/>
                </a:solidFill>
              </a:defRPr>
            </a:pPr>
            <a:r>
              <a:t>Compliance &amp; Export</a:t>
            </a:r>
          </a:p>
          <a:p>
            <a:pPr>
              <a:defRPr sz="900">
                <a:solidFill>
                  <a:srgbClr val="FFFFFF"/>
                </a:solidFill>
              </a:defRPr>
            </a:pPr>
            <a:r>
              <a:t>• Adobe PDF 1.4 Native Vector Engine</a:t>
            </a:r>
            <a:br/>
            <a:r>
              <a:t>• Microsoft Word (.docx) OpenXML Engine</a:t>
            </a:r>
            <a:br/>
            <a:r>
              <a:t>• RESTful JSON Endpoints</a:t>
            </a:r>
            <a:br/>
            <a:r>
              <a:t>• Dockerized Production Microservices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8686800" cy="594360"/>
          </a:xfrm>
          <a:prstGeom prst="rect">
            <a:avLst/>
          </a:prstGeom>
          <a:noFill/>
        </p:spPr>
        <p:txBody>
          <a:bodyPr wrap="square">
            <a:spAutoFit/>
          </a:bodyPr>
          <a:lstStyle/>
          <a:p>
            <a:pPr>
              <a:defRPr sz="2200" b="1">
                <a:solidFill>
                  <a:srgbClr val="FFFFFF"/>
                </a:solidFill>
              </a:defRPr>
            </a:pPr>
            <a:r>
              <a:t>FEASIBILITY, VIABILITY &amp; RISK MITIGATION</a:t>
            </a:r>
          </a:p>
        </p:txBody>
      </p:sp>
      <p:sp>
        <p:nvSpPr>
          <p:cNvPr id="5" name="TextBox 4"/>
          <p:cNvSpPr txBox="1"/>
          <p:nvPr/>
        </p:nvSpPr>
        <p:spPr>
          <a:xfrm>
            <a:off x="9326880" y="109728"/>
            <a:ext cx="2286000" cy="594360"/>
          </a:xfrm>
          <a:prstGeom prst="rect">
            <a:avLst/>
          </a:prstGeom>
          <a:noFill/>
        </p:spPr>
        <p:txBody>
          <a:bodyPr wrap="none">
            <a:spAutoFit/>
          </a:bodyPr>
          <a:lstStyle/>
          <a:p>
            <a:pPr algn="r">
              <a:defRPr sz="1100" b="1">
                <a:solidFill>
                  <a:srgbClr val="F26522"/>
                </a:solidFill>
              </a:defRPr>
            </a:pPr>
            <a:r>
              <a:t>SMART INDIA HACKATHON 2025</a:t>
            </a:r>
          </a:p>
        </p:txBody>
      </p:sp>
      <p:sp>
        <p:nvSpPr>
          <p:cNvPr id="6" name="Rectangle 5"/>
          <p:cNvSpPr/>
          <p:nvPr/>
        </p:nvSpPr>
        <p:spPr>
          <a:xfrm>
            <a:off x="0" y="822960"/>
            <a:ext cx="12191695" cy="54864"/>
          </a:xfrm>
          <a:prstGeom prst="rect">
            <a:avLst/>
          </a:prstGeom>
          <a:solidFill>
            <a:srgbClr val="00A8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1612880" y="6446520"/>
            <a:ext cx="411480" cy="292608"/>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4</a:t>
            </a:r>
          </a:p>
        </p:txBody>
      </p:sp>
      <p:sp>
        <p:nvSpPr>
          <p:cNvPr id="8" name="Rounded Rectangle 7"/>
          <p:cNvSpPr/>
          <p:nvPr/>
        </p:nvSpPr>
        <p:spPr>
          <a:xfrm>
            <a:off x="548640" y="1051560"/>
            <a:ext cx="5303520" cy="1234440"/>
          </a:xfrm>
          <a:prstGeom prst="roundRect">
            <a:avLst/>
          </a:prstGeom>
          <a:solidFill>
            <a:srgbClr val="FFFFFF"/>
          </a:solidFill>
          <a:ln>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B1D3A"/>
                </a:solidFill>
              </a:defRPr>
            </a:pPr>
            <a:r>
              <a:t>⚙️  Technical Feasibility</a:t>
            </a:r>
          </a:p>
          <a:p>
            <a:pPr>
              <a:defRPr sz="850">
                <a:solidFill>
                  <a:srgbClr val="0F172A"/>
                </a:solidFill>
              </a:defRPr>
            </a:pPr>
            <a:r>
              <a:t>• Built on proven open-source primitives (FastAPI, pgvector, LangGraph).</a:t>
            </a:r>
            <a:br/>
            <a:r>
              <a:t>• pgvector HNSW indexing enables sub-120ms retrieval over 50,000+ standard clauses.</a:t>
            </a:r>
            <a:br/>
            <a:r>
              <a:t>• Highly modular architecture allows plug-and-play LLM provider swapping without downtime.</a:t>
            </a:r>
          </a:p>
        </p:txBody>
      </p:sp>
      <p:sp>
        <p:nvSpPr>
          <p:cNvPr id="9" name="Rounded Rectangle 8"/>
          <p:cNvSpPr/>
          <p:nvPr/>
        </p:nvSpPr>
        <p:spPr>
          <a:xfrm>
            <a:off x="548640" y="2377439"/>
            <a:ext cx="5303520" cy="1234440"/>
          </a:xfrm>
          <a:prstGeom prst="roundRect">
            <a:avLst/>
          </a:prstGeom>
          <a:solidFill>
            <a:srgbClr val="FFFFFF"/>
          </a:solidFill>
          <a:ln>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B1D3A"/>
                </a:solidFill>
              </a:defRPr>
            </a:pPr>
            <a:r>
              <a:t>⚙️  Operational Feasibility</a:t>
            </a:r>
          </a:p>
          <a:p>
            <a:pPr>
              <a:defRPr sz="850">
                <a:solidFill>
                  <a:srgbClr val="0F172A"/>
                </a:solidFill>
              </a:defRPr>
            </a:pPr>
            <a:r>
              <a:t>• Seamlessly plugs into Government e-Marketplace (GeM) and NIC e-Tender portals.</a:t>
            </a:r>
            <a:br/>
            <a:r>
              <a:t>• Zero learning curve: Procurement officers type plain-language scopes or drop documents.</a:t>
            </a:r>
            <a:br/>
            <a:r>
              <a:t>• Supports dual offline (on-prem Ollama) and cloud (Groq/Gemini) deployment.</a:t>
            </a:r>
          </a:p>
        </p:txBody>
      </p:sp>
      <p:sp>
        <p:nvSpPr>
          <p:cNvPr id="10" name="Rounded Rectangle 9"/>
          <p:cNvSpPr/>
          <p:nvPr/>
        </p:nvSpPr>
        <p:spPr>
          <a:xfrm>
            <a:off x="548640" y="3703320"/>
            <a:ext cx="5303520" cy="1234440"/>
          </a:xfrm>
          <a:prstGeom prst="roundRect">
            <a:avLst/>
          </a:prstGeom>
          <a:solidFill>
            <a:srgbClr val="FFFFFF"/>
          </a:solidFill>
          <a:ln>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B1D3A"/>
                </a:solidFill>
              </a:defRPr>
            </a:pPr>
            <a:r>
              <a:t>⚙️  Economic Viability</a:t>
            </a:r>
          </a:p>
          <a:p>
            <a:pPr>
              <a:defRPr sz="850">
                <a:solidFill>
                  <a:srgbClr val="0F172A"/>
                </a:solidFill>
              </a:defRPr>
            </a:pPr>
            <a:r>
              <a:t>• 100% open-source core eliminates expensive proprietary enterprise license costs.</a:t>
            </a:r>
            <a:br/>
            <a:r>
              <a:t>• Generates multi-format vector PDF/DOCX schedules with zero external SaaS fees.</a:t>
            </a:r>
            <a:br/>
            <a:r>
              <a:t>• Reduces tender drafting person-hours by 95%, delivering exceptional ROI for govt bodies.</a:t>
            </a:r>
          </a:p>
        </p:txBody>
      </p:sp>
      <p:sp>
        <p:nvSpPr>
          <p:cNvPr id="11" name="Rounded Rectangle 10"/>
          <p:cNvSpPr/>
          <p:nvPr/>
        </p:nvSpPr>
        <p:spPr>
          <a:xfrm>
            <a:off x="548640" y="5029200"/>
            <a:ext cx="5303520" cy="1234440"/>
          </a:xfrm>
          <a:prstGeom prst="roundRect">
            <a:avLst/>
          </a:prstGeom>
          <a:solidFill>
            <a:srgbClr val="FFFFFF"/>
          </a:solidFill>
          <a:ln>
            <a:solidFill>
              <a:srgbClr val="DAE1E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B1D3A"/>
                </a:solidFill>
              </a:defRPr>
            </a:pPr>
            <a:r>
              <a:t>⚙️  Scalability &amp; Legal Compliance</a:t>
            </a:r>
          </a:p>
          <a:p>
            <a:pPr>
              <a:defRPr sz="850">
                <a:solidFill>
                  <a:srgbClr val="0F172A"/>
                </a:solidFill>
              </a:defRPr>
            </a:pPr>
            <a:r>
              <a:t>• Stateless FastAPI services scale horizontally across container clusters (Docker/K8s).</a:t>
            </a:r>
            <a:br/>
            <a:r>
              <a:t>• Synchronized with Ministry of Commerce QCO gazette notifications to ensure legal validity.</a:t>
            </a:r>
            <a:br/>
            <a:r>
              <a:t>• Complete audit logs and deterministic clause citations for CVC regulatory scrutiny.</a:t>
            </a:r>
          </a:p>
        </p:txBody>
      </p:sp>
      <p:sp>
        <p:nvSpPr>
          <p:cNvPr id="12" name="Rounded Rectangle 11"/>
          <p:cNvSpPr/>
          <p:nvPr/>
        </p:nvSpPr>
        <p:spPr>
          <a:xfrm>
            <a:off x="6126480" y="1051560"/>
            <a:ext cx="5486400" cy="5303520"/>
          </a:xfrm>
          <a:prstGeom prst="roundRect">
            <a:avLst/>
          </a:prstGeom>
          <a:solidFill>
            <a:srgbClr val="FFFFFF"/>
          </a:solidFill>
          <a:ln w="19050">
            <a:solidFill>
              <a:srgbClr val="F26522"/>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200" b="1">
                <a:solidFill>
                  <a:srgbClr val="F26522"/>
                </a:solidFill>
              </a:defRPr>
            </a:pPr>
            <a:r>
              <a:t>POTENTIAL CHALLENGES &amp; RISK MITIGATION STRATEGIES</a:t>
            </a:r>
          </a:p>
          <a:p>
            <a:pPr>
              <a:defRPr sz="1000" b="1">
                <a:solidFill>
                  <a:srgbClr val="B45309"/>
                </a:solidFill>
              </a:defRPr>
            </a:pPr>
            <a:r>
              <a:t>⚠️  Challenge: Data Heterogeneity &amp; Scanned Legacy BIS Standards</a:t>
            </a:r>
          </a:p>
          <a:p>
            <a:pPr>
              <a:defRPr sz="850">
                <a:solidFill>
                  <a:srgbClr val="0F172A"/>
                </a:solidFill>
              </a:defRPr>
            </a:pPr>
            <a:r>
              <a:t>    • Risk: Many historical BIS documents contain scanned raster pages and non-standard tables.</a:t>
            </a:r>
            <a:br/>
            <a:r>
              <a:t>    ✓ Mitigation: Deploying dual-engine parsing: PyMuPDF for native vector PDFs, paired with Tesseract OCR (hin+eng) and structured table boundary parsers for scanned docs.</a:t>
            </a:r>
          </a:p>
          <a:p>
            <a:pPr>
              <a:defRPr sz="1000" b="1">
                <a:solidFill>
                  <a:srgbClr val="B45309"/>
                </a:solidFill>
              </a:defRPr>
            </a:pPr>
            <a:r>
              <a:t>⚠️  Challenge: Complex Domain Jargon &amp; Ambiguous Scope Names</a:t>
            </a:r>
          </a:p>
          <a:p>
            <a:pPr>
              <a:defRPr sz="850">
                <a:solidFill>
                  <a:srgbClr val="0F172A"/>
                </a:solidFill>
              </a:defRPr>
            </a:pPr>
            <a:r>
              <a:t>    • Risk: Tender queries frequently use colloquial trade terms ('Saria', 'Jali') instead of formal IS nomenclature ('HYSD rebars', 'Chain link wire').</a:t>
            </a:r>
            <a:br/>
            <a:r>
              <a:t>    ✓ Mitigation: LLM-based Query Expander normalizes vernacular and colloquial industry terms into canonical Bureau of Indian Standards descriptors before vector retrieval.</a:t>
            </a:r>
          </a:p>
          <a:p>
            <a:pPr>
              <a:defRPr sz="1000" b="1">
                <a:solidFill>
                  <a:srgbClr val="B45309"/>
                </a:solidFill>
              </a:defRPr>
            </a:pPr>
            <a:r>
              <a:t>⚠️  Challenge: Dynamic Regulatory Amendments &amp; QCO Deadlines</a:t>
            </a:r>
          </a:p>
          <a:p>
            <a:pPr>
              <a:defRPr sz="850">
                <a:solidFill>
                  <a:srgbClr val="0F172A"/>
                </a:solidFill>
              </a:defRPr>
            </a:pPr>
            <a:r>
              <a:t>    • Risk: Government ministries issue frequent Quality Control Orders with phased effective dates.</a:t>
            </a:r>
            <a:br/>
            <a:r>
              <a:t>    ✓ Mitigation: Automated crawler and ingestion pipeline that continuously monitors gazette updates, indexing effective dates and mandatory compliance flags in PostgreSQL.</a:t>
            </a:r>
          </a:p>
          <a:p>
            <a:pPr>
              <a:defRPr sz="1000" b="1">
                <a:solidFill>
                  <a:srgbClr val="B45309"/>
                </a:solidFill>
              </a:defRPr>
            </a:pPr>
            <a:r>
              <a:t>⚠️  Challenge: Cloud Dependency &amp; Data Sovereignty in Govt Procurement</a:t>
            </a:r>
          </a:p>
          <a:p>
            <a:pPr>
              <a:defRPr sz="850">
                <a:solidFill>
                  <a:srgbClr val="0F172A"/>
                </a:solidFill>
              </a:defRPr>
            </a:pPr>
            <a:r>
              <a:t>    • Risk: Defense and sensitive PSU procurement guidelines may forbid cloud API transmissions.</a:t>
            </a:r>
            <a:br/>
            <a:r>
              <a:t>    ✓ Mitigation: Multi-backend engine designed with LangGraph: Seamless toggle to on-premise quantized LLMs (Ollama / Llama-3.3 8B) for zero-cloud, 100% air-gapped security.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8686800" cy="594360"/>
          </a:xfrm>
          <a:prstGeom prst="rect">
            <a:avLst/>
          </a:prstGeom>
          <a:noFill/>
        </p:spPr>
        <p:txBody>
          <a:bodyPr wrap="square">
            <a:spAutoFit/>
          </a:bodyPr>
          <a:lstStyle/>
          <a:p>
            <a:pPr>
              <a:defRPr sz="2200" b="1">
                <a:solidFill>
                  <a:srgbClr val="FFFFFF"/>
                </a:solidFill>
              </a:defRPr>
            </a:pPr>
            <a:r>
              <a:t>IMPACT AND MEASURABLE BENEFITS</a:t>
            </a:r>
          </a:p>
        </p:txBody>
      </p:sp>
      <p:sp>
        <p:nvSpPr>
          <p:cNvPr id="5" name="TextBox 4"/>
          <p:cNvSpPr txBox="1"/>
          <p:nvPr/>
        </p:nvSpPr>
        <p:spPr>
          <a:xfrm>
            <a:off x="9326880" y="109728"/>
            <a:ext cx="2286000" cy="594360"/>
          </a:xfrm>
          <a:prstGeom prst="rect">
            <a:avLst/>
          </a:prstGeom>
          <a:noFill/>
        </p:spPr>
        <p:txBody>
          <a:bodyPr wrap="none">
            <a:spAutoFit/>
          </a:bodyPr>
          <a:lstStyle/>
          <a:p>
            <a:pPr algn="r">
              <a:defRPr sz="1100" b="1">
                <a:solidFill>
                  <a:srgbClr val="F26522"/>
                </a:solidFill>
              </a:defRPr>
            </a:pPr>
            <a:r>
              <a:t>SMART INDIA HACKATHON 2025</a:t>
            </a:r>
          </a:p>
        </p:txBody>
      </p:sp>
      <p:sp>
        <p:nvSpPr>
          <p:cNvPr id="6" name="Rectangle 5"/>
          <p:cNvSpPr/>
          <p:nvPr/>
        </p:nvSpPr>
        <p:spPr>
          <a:xfrm>
            <a:off x="0" y="822960"/>
            <a:ext cx="12191695" cy="54864"/>
          </a:xfrm>
          <a:prstGeom prst="rect">
            <a:avLst/>
          </a:prstGeom>
          <a:solidFill>
            <a:srgbClr val="00A8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1612880" y="6446520"/>
            <a:ext cx="411480" cy="292608"/>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5</a:t>
            </a:r>
          </a:p>
        </p:txBody>
      </p:sp>
      <p:sp>
        <p:nvSpPr>
          <p:cNvPr id="8" name="Rounded Rectangle 7"/>
          <p:cNvSpPr/>
          <p:nvPr/>
        </p:nvSpPr>
        <p:spPr>
          <a:xfrm>
            <a:off x="548640" y="1051560"/>
            <a:ext cx="5303520" cy="5303520"/>
          </a:xfrm>
          <a:prstGeom prst="roundRect">
            <a:avLst/>
          </a:prstGeom>
          <a:solidFill>
            <a:srgbClr val="FFFFFF"/>
          </a:solidFill>
          <a:ln w="19050">
            <a:solidFill>
              <a:srgbClr val="0B1D3A"/>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300" b="1">
                <a:solidFill>
                  <a:srgbClr val="0B1D3A"/>
                </a:solidFill>
              </a:defRPr>
            </a:pPr>
            <a:r>
              <a:t>IMPACT ON TARGET STAKEHOLDERS</a:t>
            </a:r>
          </a:p>
          <a:p>
            <a:pPr>
              <a:defRPr sz="1050" b="1">
                <a:solidFill>
                  <a:srgbClr val="00A8B5"/>
                </a:solidFill>
              </a:defRPr>
            </a:pPr>
            <a:r>
              <a:t>👥  Government Departments &amp; PSUs (CPWD, Railways, MES, NHAI)</a:t>
            </a:r>
          </a:p>
          <a:p>
            <a:pPr>
              <a:defRPr sz="850">
                <a:solidFill>
                  <a:srgbClr val="0F172A"/>
                </a:solidFill>
              </a:defRPr>
            </a:pPr>
            <a:r>
              <a:t>• Slashing tender specification formulation time from weeks to under 30 seconds.</a:t>
            </a:r>
            <a:br/>
            <a:r>
              <a:t>• Complete elimination of audit objections and vigilance queries related to substandard items.</a:t>
            </a:r>
            <a:br/>
            <a:r>
              <a:t>• Automatic adherence to latest Ministry Quality Control Orders.</a:t>
            </a:r>
          </a:p>
          <a:p>
            <a:pPr>
              <a:defRPr sz="1050" b="1">
                <a:solidFill>
                  <a:srgbClr val="00A8B5"/>
                </a:solidFill>
              </a:defRPr>
            </a:pPr>
            <a:r>
              <a:t>👥  Government e-Marketplace (GeM) &amp; Procurement Officers</a:t>
            </a:r>
          </a:p>
          <a:p>
            <a:pPr>
              <a:defRPr sz="850">
                <a:solidFill>
                  <a:srgbClr val="0F172A"/>
                </a:solidFill>
              </a:defRPr>
            </a:pPr>
            <a:r>
              <a:t>• Native integration to auto-validate seller catalogs against mandatory IS codes.</a:t>
            </a:r>
            <a:br/>
            <a:r>
              <a:t>• Prevents rogue and sub-par listings from entering public procurement channels.</a:t>
            </a:r>
            <a:br/>
            <a:r>
              <a:t>• Standardized tender schedules ready for one-click notice inviting tender (NIT) release.</a:t>
            </a:r>
          </a:p>
          <a:p>
            <a:pPr>
              <a:defRPr sz="1050" b="1">
                <a:solidFill>
                  <a:srgbClr val="00A8B5"/>
                </a:solidFill>
              </a:defRPr>
            </a:pPr>
            <a:r>
              <a:t>👥  Indian Manufacturers, MSMEs &amp; Bidders</a:t>
            </a:r>
          </a:p>
          <a:p>
            <a:pPr>
              <a:defRPr sz="850">
                <a:solidFill>
                  <a:srgbClr val="0F172A"/>
                </a:solidFill>
              </a:defRPr>
            </a:pPr>
            <a:r>
              <a:t>• Clear, unambiguous tender compliance criteria, preventing unfair disqualifications.</a:t>
            </a:r>
            <a:br/>
            <a:r>
              <a:t>• Granular visibility into required test methods (sampling, hydro-tests) prior to bidding.</a:t>
            </a:r>
            <a:br/>
            <a:r>
              <a:t>• Regional language support allows tier-2 &amp; tier-3 MSMEs to decode complex standards.</a:t>
            </a:r>
          </a:p>
          <a:p>
            <a:pPr>
              <a:defRPr sz="1050" b="1">
                <a:solidFill>
                  <a:srgbClr val="00A8B5"/>
                </a:solidFill>
              </a:defRPr>
            </a:pPr>
            <a:r>
              <a:t>👥  National Economy &amp; General Citizens</a:t>
            </a:r>
          </a:p>
          <a:p>
            <a:pPr>
              <a:defRPr sz="850">
                <a:solidFill>
                  <a:srgbClr val="0F172A"/>
                </a:solidFill>
              </a:defRPr>
            </a:pPr>
            <a:r>
              <a:t>• Safeguards public infrastructure (bridges, pipes, electricals) from substandard materials.</a:t>
            </a:r>
            <a:br/>
            <a:r>
              <a:t>• Prevents massive economic wastage caused by premature material failure and litigations.</a:t>
            </a:r>
            <a:br/>
            <a:r>
              <a:t>• Supports 'Aatmanirbhar Bharat' and 'Make in India' quality benchmarks.</a:t>
            </a:r>
          </a:p>
        </p:txBody>
      </p:sp>
      <p:sp>
        <p:nvSpPr>
          <p:cNvPr id="9" name="Rounded Rectangle 8"/>
          <p:cNvSpPr/>
          <p:nvPr/>
        </p:nvSpPr>
        <p:spPr>
          <a:xfrm>
            <a:off x="6126480" y="1051560"/>
            <a:ext cx="5486400" cy="3931920"/>
          </a:xfrm>
          <a:prstGeom prst="roundRect">
            <a:avLst/>
          </a:prstGeom>
          <a:solidFill>
            <a:srgbClr val="FFFFFF"/>
          </a:solidFill>
          <a:ln w="19050">
            <a:solidFill>
              <a:srgbClr val="00A8B5"/>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300" b="1">
                <a:solidFill>
                  <a:srgbClr val="00A8B5"/>
                </a:solidFill>
              </a:defRPr>
            </a:pPr>
            <a:r>
              <a:t>BENEFITS OF THE MANAKSPEC SOLUTION</a:t>
            </a:r>
          </a:p>
          <a:p>
            <a:pPr>
              <a:defRPr sz="1050" b="1">
                <a:solidFill>
                  <a:srgbClr val="0B1D3A"/>
                </a:solidFill>
              </a:defRPr>
            </a:pPr>
            <a:r>
              <a:t>✨  Economic Benefits</a:t>
            </a:r>
          </a:p>
          <a:p>
            <a:pPr>
              <a:defRPr sz="850">
                <a:solidFill>
                  <a:srgbClr val="0F172A"/>
                </a:solidFill>
              </a:defRPr>
            </a:pPr>
            <a:r>
              <a:t>• Saves crores of public exchequer funds lost to vendor re-tendering and contractual disputes.</a:t>
            </a:r>
            <a:br/>
            <a:r>
              <a:t>• 100% open-source software stack saves millions in proprietary procurement tool licenses.</a:t>
            </a:r>
          </a:p>
          <a:p>
            <a:pPr>
              <a:defRPr sz="1050" b="1">
                <a:solidFill>
                  <a:srgbClr val="0B1D3A"/>
                </a:solidFill>
              </a:defRPr>
            </a:pPr>
            <a:r>
              <a:t>✨  Operational Efficiency</a:t>
            </a:r>
          </a:p>
          <a:p>
            <a:pPr>
              <a:defRPr sz="850">
                <a:solidFill>
                  <a:srgbClr val="0F172A"/>
                </a:solidFill>
              </a:defRPr>
            </a:pPr>
            <a:r>
              <a:t>• 98% reduction in human hours dedicated to manual standards research and clause formatting.</a:t>
            </a:r>
            <a:br/>
            <a:r>
              <a:t>• Direct export into tender-ready vector PDF 1.4 and Word OpenXML formats.</a:t>
            </a:r>
          </a:p>
          <a:p>
            <a:pPr>
              <a:defRPr sz="1050" b="1">
                <a:solidFill>
                  <a:srgbClr val="0B1D3A"/>
                </a:solidFill>
              </a:defRPr>
            </a:pPr>
            <a:r>
              <a:t>✨  Quality &amp; Safety Assurance</a:t>
            </a:r>
          </a:p>
          <a:p>
            <a:pPr>
              <a:defRPr sz="850">
                <a:solidFill>
                  <a:srgbClr val="0F172A"/>
                </a:solidFill>
              </a:defRPr>
            </a:pPr>
            <a:r>
              <a:t>• Guarantees that public goods (drinking water pipes, structural steel, LED lights) meet rigorous BIS safety guidelines and test criteria.</a:t>
            </a:r>
          </a:p>
          <a:p>
            <a:pPr>
              <a:defRPr sz="1050" b="1">
                <a:solidFill>
                  <a:srgbClr val="0B1D3A"/>
                </a:solidFill>
              </a:defRPr>
            </a:pPr>
            <a:r>
              <a:t>✨  Regulatory &amp; Legal Compliance</a:t>
            </a:r>
          </a:p>
          <a:p>
            <a:pPr>
              <a:defRPr sz="850">
                <a:solidFill>
                  <a:srgbClr val="0F172A"/>
                </a:solidFill>
              </a:defRPr>
            </a:pPr>
            <a:r>
              <a:t>• Enforces zero-tolerance compliance with DPIIT and Ministry QCO notifications, protecting officers from compliance liability.</a:t>
            </a:r>
          </a:p>
        </p:txBody>
      </p:sp>
      <p:sp>
        <p:nvSpPr>
          <p:cNvPr id="10" name="Rounded Rectangle 9"/>
          <p:cNvSpPr/>
          <p:nvPr/>
        </p:nvSpPr>
        <p:spPr>
          <a:xfrm>
            <a:off x="6126480" y="5120640"/>
            <a:ext cx="5486400" cy="1234440"/>
          </a:xfrm>
          <a:prstGeom prst="roundRect">
            <a:avLst/>
          </a:prstGeom>
          <a:solidFill>
            <a:srgbClr val="0B1D3A"/>
          </a:solidFill>
          <a:ln>
            <a:solidFill>
              <a:srgbClr val="F2652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26522"/>
                </a:solidFill>
              </a:defRPr>
            </a:pPr>
            <a:r>
              <a:t>CONCLUSION:</a:t>
            </a:r>
          </a:p>
          <a:p>
            <a:pPr>
              <a:defRPr sz="900">
                <a:solidFill>
                  <a:srgbClr val="FFFFFF"/>
                </a:solidFill>
              </a:defRPr>
            </a:pPr>
            <a:r>
              <a:t>ManakSpec bridges the critical divide between complex national standardization frameworks and practical public procurement. By combining multilingual AI, hybrid pgvector retrieval, and automated tender drafting, it establishes an airtight quality assurance ecosystem for India's infrastructure growth.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8686800" cy="594360"/>
          </a:xfrm>
          <a:prstGeom prst="rect">
            <a:avLst/>
          </a:prstGeom>
          <a:noFill/>
        </p:spPr>
        <p:txBody>
          <a:bodyPr wrap="square">
            <a:spAutoFit/>
          </a:bodyPr>
          <a:lstStyle/>
          <a:p>
            <a:pPr>
              <a:defRPr sz="2200" b="1">
                <a:solidFill>
                  <a:srgbClr val="FFFFFF"/>
                </a:solidFill>
              </a:defRPr>
            </a:pPr>
            <a:r>
              <a:t>RESEARCH PAPERS, REPOSITORIES &amp; ARCHITECTURAL FOUNDATIONS</a:t>
            </a:r>
          </a:p>
        </p:txBody>
      </p:sp>
      <p:sp>
        <p:nvSpPr>
          <p:cNvPr id="5" name="TextBox 4"/>
          <p:cNvSpPr txBox="1"/>
          <p:nvPr/>
        </p:nvSpPr>
        <p:spPr>
          <a:xfrm>
            <a:off x="9326880" y="109728"/>
            <a:ext cx="2286000" cy="594360"/>
          </a:xfrm>
          <a:prstGeom prst="rect">
            <a:avLst/>
          </a:prstGeom>
          <a:noFill/>
        </p:spPr>
        <p:txBody>
          <a:bodyPr wrap="none">
            <a:spAutoFit/>
          </a:bodyPr>
          <a:lstStyle/>
          <a:p>
            <a:pPr algn="r">
              <a:defRPr sz="1100" b="1">
                <a:solidFill>
                  <a:srgbClr val="F26522"/>
                </a:solidFill>
              </a:defRPr>
            </a:pPr>
            <a:r>
              <a:t>SMART INDIA HACKATHON 2025</a:t>
            </a:r>
          </a:p>
        </p:txBody>
      </p:sp>
      <p:sp>
        <p:nvSpPr>
          <p:cNvPr id="6" name="Rectangle 5"/>
          <p:cNvSpPr/>
          <p:nvPr/>
        </p:nvSpPr>
        <p:spPr>
          <a:xfrm>
            <a:off x="0" y="822960"/>
            <a:ext cx="12191695" cy="54864"/>
          </a:xfrm>
          <a:prstGeom prst="rect">
            <a:avLst/>
          </a:prstGeom>
          <a:solidFill>
            <a:srgbClr val="00A8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1612880" y="6446520"/>
            <a:ext cx="411480" cy="292608"/>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6</a:t>
            </a:r>
          </a:p>
        </p:txBody>
      </p:sp>
      <p:sp>
        <p:nvSpPr>
          <p:cNvPr id="8" name="Rounded Rectangle 7"/>
          <p:cNvSpPr/>
          <p:nvPr/>
        </p:nvSpPr>
        <p:spPr>
          <a:xfrm>
            <a:off x="548640" y="1051560"/>
            <a:ext cx="11091672" cy="2011680"/>
          </a:xfrm>
          <a:prstGeom prst="roundRect">
            <a:avLst/>
          </a:prstGeom>
          <a:solidFill>
            <a:srgbClr val="FFFFFF"/>
          </a:solidFill>
          <a:ln>
            <a:solidFill>
              <a:srgbClr val="DAE1E9"/>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50" b="1">
                <a:solidFill>
                  <a:srgbClr val="0B1D3A"/>
                </a:solidFill>
              </a:defRPr>
            </a:pPr>
            <a:r>
              <a:t>FOUNDATIONAL RESEARCH PAPERS &amp; LITERATURE:</a:t>
            </a:r>
          </a:p>
          <a:p>
            <a:pPr>
              <a:defRPr sz="850">
                <a:solidFill>
                  <a:srgbClr val="0F172A"/>
                </a:solidFill>
              </a:defRPr>
            </a:pPr>
            <a:r>
              <a:t>1. Lewis, P., et al. (2020). Retrieval-Augmented Generation for Knowledge-Intensive NLP Tasks. Advances in Neural Information Processing Systems (NeurIPS 2020). https://arxiv.org/abs/2005.11401</a:t>
            </a:r>
          </a:p>
          <a:p>
            <a:pPr>
              <a:defRPr sz="850">
                <a:solidFill>
                  <a:srgbClr val="0F172A"/>
                </a:solidFill>
              </a:defRPr>
            </a:pPr>
            <a:r>
              <a:t>2. Karpukhin, V., et al. (2020). Dense Passage Retrieval for Open-Domain Question Answering. Proceedings of EMNLP 2020, pp. 6769-6781. https://arxiv.org/abs/2004.04906</a:t>
            </a:r>
          </a:p>
          <a:p>
            <a:pPr>
              <a:defRPr sz="850">
                <a:solidFill>
                  <a:srgbClr val="0F172A"/>
                </a:solidFill>
              </a:defRPr>
            </a:pPr>
            <a:r>
              <a:t>3. Malkov, Y. A., &amp; Yashunin, D. A. (2018). Efficient and robust approximate nearest neighbor search using Hierarchical Navigable Small World graphs. IEEE TPAMI, 42(4), 824-836. https://doi.org/10.1109/TPAMI.2018.2889473</a:t>
            </a:r>
          </a:p>
          <a:p>
            <a:pPr>
              <a:defRPr sz="850">
                <a:solidFill>
                  <a:srgbClr val="0F172A"/>
                </a:solidFill>
              </a:defRPr>
            </a:pPr>
            <a:r>
              <a:t>4. Joshi, P., et al. (2020). State of Multilingual AI and Natural Language Processing for Indian Languages. ACM Transactions on Asian and Low-Resource Language Information Processing. https://doi.org/10.1145/3406103</a:t>
            </a:r>
          </a:p>
        </p:txBody>
      </p:sp>
      <p:sp>
        <p:nvSpPr>
          <p:cNvPr id="9" name="Rounded Rectangle 8"/>
          <p:cNvSpPr/>
          <p:nvPr/>
        </p:nvSpPr>
        <p:spPr>
          <a:xfrm>
            <a:off x="548640" y="3200400"/>
            <a:ext cx="5440680" cy="3200400"/>
          </a:xfrm>
          <a:prstGeom prst="roundRect">
            <a:avLst/>
          </a:prstGeom>
          <a:solidFill>
            <a:srgbClr val="FFFFFF"/>
          </a:solidFill>
          <a:ln w="19050">
            <a:solidFill>
              <a:srgbClr val="00A8B5"/>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b="1">
                <a:solidFill>
                  <a:srgbClr val="0B1D3A"/>
                </a:solidFill>
              </a:defRPr>
            </a:pPr>
            <a:r>
              <a:t>OFFICIAL REGULATORY &amp; STANDARDS REPOSITORIES:</a:t>
            </a:r>
          </a:p>
          <a:p>
            <a:pPr>
              <a:defRPr sz="850">
                <a:solidFill>
                  <a:srgbClr val="0F172A"/>
                </a:solidFill>
              </a:defRPr>
            </a:pPr>
            <a:r>
              <a:t>1. Bureau of Indian Standards (BIS) Official Portal</a:t>
            </a:r>
            <a:br/>
            <a:r>
              <a:t>    https://www.bis.gov.in/ (Standard Specifications &amp; Harmonized Codes)</a:t>
            </a:r>
          </a:p>
          <a:p>
            <a:pPr>
              <a:defRPr sz="850">
                <a:solidFill>
                  <a:srgbClr val="0F172A"/>
                </a:solidFill>
              </a:defRPr>
            </a:pPr>
            <a:r>
              <a:t>2. Manakonline e-BIS Standards Management &amp; Conformity Portal</a:t>
            </a:r>
            <a:br/>
            <a:r>
              <a:t>    https://www.manakonline.in/ (BIS Conformity Assessment &amp; Product Catalogs)</a:t>
            </a:r>
          </a:p>
          <a:p>
            <a:pPr>
              <a:defRPr sz="850">
                <a:solidFill>
                  <a:srgbClr val="0F172A"/>
                </a:solidFill>
              </a:defRPr>
            </a:pPr>
            <a:r>
              <a:t>3. Department for Promotion of Industry and Internal Trade (DPIIT)</a:t>
            </a:r>
            <a:br/>
            <a:r>
              <a:t>    https://dpiit.gov.in/ (Mandatory Quality Control Orders &amp; Notifications)</a:t>
            </a:r>
          </a:p>
          <a:p>
            <a:pPr>
              <a:defRPr sz="850">
                <a:solidFill>
                  <a:srgbClr val="0F172A"/>
                </a:solidFill>
              </a:defRPr>
            </a:pPr>
            <a:r>
              <a:t>4. Government e-Marketplace (GeM) Procurement Manuals</a:t>
            </a:r>
            <a:br/>
            <a:r>
              <a:t>    https://gem.gov.in/ (Public Procurement Quality Compliance Directives)</a:t>
            </a:r>
          </a:p>
          <a:p>
            <a:pPr>
              <a:defRPr sz="850">
                <a:solidFill>
                  <a:srgbClr val="0F172A"/>
                </a:solidFill>
              </a:defRPr>
            </a:pPr>
            <a:r>
              <a:t>5. Central Public Works Department (CPWD) Specifications 2021</a:t>
            </a:r>
            <a:br/>
            <a:r>
              <a:t>    https://cpwd.gov.in/ (Civil &amp; Electrical Works Mandatory IS Enactments)</a:t>
            </a:r>
          </a:p>
        </p:txBody>
      </p:sp>
      <p:sp>
        <p:nvSpPr>
          <p:cNvPr id="10" name="Rounded Rectangle 9"/>
          <p:cNvSpPr/>
          <p:nvPr/>
        </p:nvSpPr>
        <p:spPr>
          <a:xfrm>
            <a:off x="6172200" y="3200400"/>
            <a:ext cx="5468112" cy="3200400"/>
          </a:xfrm>
          <a:prstGeom prst="roundRect">
            <a:avLst/>
          </a:prstGeom>
          <a:solidFill>
            <a:srgbClr val="FFFFFF"/>
          </a:solidFill>
          <a:ln w="19050">
            <a:solidFill>
              <a:srgbClr val="0B1D3A"/>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b="1">
                <a:solidFill>
                  <a:srgbClr val="0B1D3A"/>
                </a:solidFill>
              </a:defRPr>
            </a:pPr>
            <a:r>
              <a:t>FRAMEWORK &amp; ARCHITECTURAL REFERENCES:</a:t>
            </a:r>
          </a:p>
          <a:p>
            <a:pPr>
              <a:defRPr sz="850">
                <a:solidFill>
                  <a:srgbClr val="0F172A"/>
                </a:solidFill>
              </a:defRPr>
            </a:pPr>
            <a:r>
              <a:t>1. LangGraph Multi-Agent Orchestration Framework Documentation</a:t>
            </a:r>
            <a:br/>
            <a:r>
              <a:t>    https://langchain-ai.github.io/langgraph/ (Cyclic Multi-Agent Workflows)</a:t>
            </a:r>
          </a:p>
          <a:p>
            <a:pPr>
              <a:defRPr sz="850">
                <a:solidFill>
                  <a:srgbClr val="0F172A"/>
                </a:solidFill>
              </a:defRPr>
            </a:pPr>
            <a:r>
              <a:t>2. pgvector: Open-Source Vector Similarity Search for PostgreSQL</a:t>
            </a:r>
            <a:br/>
            <a:r>
              <a:t>    https://github.com/pgvector/pgvector (HNSW Indexing &amp; Cosine Distance)</a:t>
            </a:r>
          </a:p>
          <a:p>
            <a:pPr>
              <a:defRPr sz="850">
                <a:solidFill>
                  <a:srgbClr val="0F172A"/>
                </a:solidFill>
              </a:defRPr>
            </a:pPr>
            <a:r>
              <a:t>3. FastAPI Asynchronous Web Framework Documentation</a:t>
            </a:r>
            <a:br/>
            <a:r>
              <a:t>    https://fastapi.tiangolo.com/ (High-performance AsyncIO Rest API Design)</a:t>
            </a:r>
          </a:p>
          <a:p>
            <a:pPr>
              <a:defRPr sz="850">
                <a:solidFill>
                  <a:srgbClr val="0F172A"/>
                </a:solidFill>
              </a:defRPr>
            </a:pPr>
            <a:r>
              <a:t>4. ISO 32000-1:2008 Document Management — Portable Document Format (PDF 1.4)</a:t>
            </a:r>
            <a:br/>
            <a:r>
              <a:t>    https://www.iso.org/standard/51502.html (Zero-Dependency Vector Output)</a:t>
            </a:r>
          </a:p>
          <a:p>
            <a:pPr>
              <a:defRPr sz="850">
                <a:solidFill>
                  <a:srgbClr val="0F172A"/>
                </a:solidFill>
              </a:defRPr>
            </a:pPr>
            <a:r>
              <a:t>5. Tesseract Open Source OCR Engine (LSTM Engine with 'hin+eng' support)</a:t>
            </a:r>
            <a:br/>
            <a:r>
              <a:t>    https://github.com/tesseract-ocr/tesseract (Multilingual Document Ingestion)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